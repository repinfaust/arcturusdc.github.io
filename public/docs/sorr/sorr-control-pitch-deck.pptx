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6A3"/>
                </a:solidFill>
              </a:rPr>
              <a:t>INTERNAL —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Governing AI at Speed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case for a governed orchestration layer before enterprise AI adoption creates the risks it was meant to prevent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 2026  ·  For: Product Director, CPO, InfoSec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-548640"/>
            <a:ext cx="3657600" cy="3657600"/>
          </a:xfrm>
          <a:prstGeom prst="ellipse">
            <a:avLst/>
          </a:prstGeom>
          <a:solidFill>
            <a:srgbClr val="00D6A3">
              <a:alpha val="10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914400"/>
            <a:ext cx="2286000" cy="2286000"/>
          </a:xfrm>
          <a:prstGeom prst="ellipse">
            <a:avLst/>
          </a:prstGeom>
          <a:solidFill>
            <a:srgbClr val="00D6A3">
              <a:alpha val="15000"/>
            </a:srgbClr>
          </a:solidFill>
          <a:ln w="12700">
            <a:solidFill>
              <a:srgbClr val="00D6A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are rolling out Claude to all product staff.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are moving fast. That is the right instinct. The risk is not the speed — it is the absence of a control layer while we move fast.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87168"/>
            <a:ext cx="502920" cy="50292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9848" y="2542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staff using Claude for ideation, drafting, productivity. General usage is fine and should remain unconstrained.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487168"/>
            <a:ext cx="502920" cy="50292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87368" y="2542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Imminent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12724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Teams wanting to connect Claude to live tools — ServiceNow, billing, customer records — via MCP agents and Cowork.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2743200" cy="2514600"/>
          </a:xfrm>
          <a:prstGeom prst="rect">
            <a:avLst/>
          </a:prstGeom>
          <a:solidFill>
            <a:srgbClr val="FEF2F2"/>
          </a:solidFill>
          <a:ln w="25400">
            <a:solidFill>
              <a:srgbClr val="FF5B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2487168"/>
            <a:ext cx="502920" cy="502920"/>
          </a:xfrm>
          <a:prstGeom prst="ellipse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04888" y="2542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B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3127248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policy layer governing what systems can be touched, what outputs can leave, or what requires approval before it happens.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FAILURE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Chaos–Ban–Shadow Cycle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major company that attempted ungoverned AI rollout followed this trajectory.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103120"/>
            <a:ext cx="1920240" cy="2606040"/>
          </a:xfrm>
          <a:prstGeom prst="rect">
            <a:avLst/>
          </a:prstGeom>
          <a:solidFill>
            <a:srgbClr val="0D2140"/>
          </a:solidFill>
          <a:ln w="25400">
            <a:solidFill>
              <a:srgbClr val="00D6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12848"/>
            <a:ext cx="640080" cy="64008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999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 use unapproved tools. Proprietary data, customer PII, and IP enter public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58568" y="3291840"/>
            <a:ext cx="19202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03120"/>
            <a:ext cx="1920240" cy="2606040"/>
          </a:xfrm>
          <a:prstGeom prst="rect">
            <a:avLst/>
          </a:prstGeom>
          <a:solidFill>
            <a:srgbClr val="0D2140"/>
          </a:solidFill>
          <a:ln w="25400">
            <a:solidFill>
              <a:srgbClr val="E84E1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212848"/>
            <a:ext cx="640080" cy="64008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60320" y="2999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4E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345643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exposure discovered. Executive response is a blanket ban on all AI tool 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07408" y="3291840"/>
            <a:ext cx="19202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103120"/>
            <a:ext cx="1920240" cy="2606040"/>
          </a:xfrm>
          <a:prstGeom prst="rect">
            <a:avLst/>
          </a:prstGeom>
          <a:solidFill>
            <a:srgbClr val="0D2140"/>
          </a:solidFill>
          <a:ln w="25400">
            <a:solidFill>
              <a:srgbClr val="FF5B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212848"/>
            <a:ext cx="640080" cy="640080"/>
          </a:xfrm>
          <a:prstGeom prst="ellipse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999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B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345643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Ban fails. Usage goes underground with zero visibility, audit trail, or control.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56248" y="3291840"/>
            <a:ext cx="192024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103120"/>
            <a:ext cx="1920240" cy="2606040"/>
          </a:xfrm>
          <a:prstGeom prst="rect">
            <a:avLst/>
          </a:prstGeom>
          <a:solidFill>
            <a:srgbClr val="0D2140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212848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29992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Rebuild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3456432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Organisation builds the governed platform it should have built first — 3–6 months lost.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2E0A0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360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Samsung: engineers uploaded proprietary semiconductor code to ChatGPT within 20 days. Blanket ban followed. Employees immediately moved to personal devices. Platform eventually rebuilt at significant cost.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SCALE OF SHADOW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 is not an edge case. It is the current default.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organisations have employees using unsanctioned AI apps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508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508760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£670K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0128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additional breach cost where shadow AI is present (IBM 2025)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1508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508760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97%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08776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AI-related breaches lacked proper access controls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81528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11480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AI web traffic bypasses corporate VPN and endpoint controls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30815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81528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68%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310128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employees use personal free-tier AI accounts for 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308152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081528"/>
            <a:ext cx="2743200" cy="54864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8776" y="31729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208776" y="3767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all corporate data breaches now involve shadow AI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AGENTIC RISK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changes the risk calculus entirely.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Claude connects to live systems via MCP, a single ungoverned request becomes a multi-system incident.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93392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993392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084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Confused Deputy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24505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Hidden instructions in a doc or email hijack the agent's valid OAuth token to execute attacker commands.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993392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993392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00984" y="2084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 Poisoning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00984" y="24505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Malicious instructions in MCP tool metadata steer the agent into unsafe behaviour. Success rate: &gt;72%.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993392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993392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084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TPA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45059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Injects malicious context via dynamic tool outputs mid-execution. Bypasses schema validation entirely.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474720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566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 Shadowing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" y="3931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rogue MCP server intercepts calls to a trusted server. Silent API key theft and data redirection.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72968" y="3474720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72968" y="3474720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3566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Rug-pull Attacks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00984" y="3931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previously approved tool silently redefines its routing post-installation, becoming an exfiltration channel.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71616" y="3474720"/>
            <a:ext cx="2743200" cy="1344168"/>
          </a:xfrm>
          <a:prstGeom prst="rect">
            <a:avLst/>
          </a:prstGeom>
          <a:solidFill>
            <a:srgbClr val="0D2140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3474720"/>
            <a:ext cx="27432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9632" y="35661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Zero-Click (EchoLeak)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3931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Demonstrated on M365 Copilot. Extracts session data without any user interaction via prompt injection in email.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Control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governed orchestration layer sitting between employees and enterprise AI tools.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38528"/>
            <a:ext cx="4114800" cy="4572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Accepts a user request in plain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Classifies it against approved use cases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46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Resolves the governing policy bundle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Routes to fast lane, approval required, or governed workspace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Logs every step immutably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938528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38528"/>
            <a:ext cx="4114800" cy="457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it is NOT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2578608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542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replacement for Claude or Cowork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999232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99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constraint on general productivity use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419856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Visible to users below Tier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840480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competitor to ServiceNow or Portkey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4261104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0368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compliance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request resolves to one of three execution paths.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Determined automatically by risk tier. Not by user discretion.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3108960"/>
          </a:xfrm>
          <a:prstGeom prst="rect">
            <a:avLst/>
          </a:prstGeom>
          <a:solidFill>
            <a:srgbClr val="0D2140"/>
          </a:solidFill>
          <a:ln w="25400">
            <a:solidFill>
              <a:srgbClr val="00C4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56816"/>
            <a:ext cx="658368" cy="27432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56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T1 / T2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640080" cy="640080"/>
          </a:xfrm>
          <a:prstGeom prst="ellipse">
            <a:avLst/>
          </a:prstGeom>
          <a:solidFill>
            <a:srgbClr val="00C48C">
              <a:alpha val="20000"/>
            </a:srgbClr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48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6700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 Lane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Low-risk queries and internal work. Claude responds immediately within policy constraints. No approval, no friction.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4023360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986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 reasoning &amp; ideation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4288536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Internal Q&amp;A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4553712"/>
            <a:ext cx="91440" cy="91440"/>
          </a:xfrm>
          <a:prstGeom prst="ellipse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Summarising pasted content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1828800"/>
            <a:ext cx="2743200" cy="3108960"/>
          </a:xfrm>
          <a:prstGeom prst="rect">
            <a:avLst/>
          </a:prstGeom>
          <a:solidFill>
            <a:srgbClr val="0D2140"/>
          </a:solidFill>
          <a:ln w="25400">
            <a:solidFill>
              <a:srgbClr val="E84E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1956816"/>
            <a:ext cx="658368" cy="27432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956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78808" y="1920240"/>
            <a:ext cx="640080" cy="640080"/>
          </a:xfrm>
          <a:prstGeom prst="ellipse">
            <a:avLst/>
          </a:prstGeom>
          <a:solidFill>
            <a:srgbClr val="E84E1B">
              <a:alpha val="20000"/>
            </a:srgbClr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4E1B"/>
                </a:solidFill>
              </a:rPr>
              <a:t>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10128" y="26700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Approval Required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10128" y="31089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External-facing output or sensitive operational data. Draft generated and held until a named approver reviews 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4023360"/>
            <a:ext cx="91440" cy="9144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986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Customer-facing incident updates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4288536"/>
            <a:ext cx="91440" cy="9144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 dispute investigation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4553712"/>
            <a:ext cx="91440" cy="9144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External communications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71616" y="1828800"/>
            <a:ext cx="2743200" cy="3108960"/>
          </a:xfrm>
          <a:prstGeom prst="rect">
            <a:avLst/>
          </a:prstGeom>
          <a:solidFill>
            <a:srgbClr val="0D2140"/>
          </a:solidFill>
          <a:ln w="25400">
            <a:solidFill>
              <a:srgbClr val="FF5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1956816"/>
            <a:ext cx="658368" cy="2743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19568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77456" y="1920240"/>
            <a:ext cx="640080" cy="640080"/>
          </a:xfrm>
          <a:prstGeom prst="ellipse">
            <a:avLst/>
          </a:prstGeom>
          <a:solidFill>
            <a:srgbClr val="FF5B33">
              <a:alpha val="20000"/>
            </a:srgbClr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7745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B33"/>
                </a:solidFill>
              </a:rPr>
              <a:t>⬡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208776" y="26700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Workspace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08776" y="31089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Regulated or legal obligation. Full audit trail, named approver required. Output locked until approved.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6208" y="4023360"/>
            <a:ext cx="91440" cy="91440"/>
          </a:xfrm>
          <a:prstGeom prst="ellipse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86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Regulatory responses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4288536"/>
            <a:ext cx="91440" cy="91440"/>
          </a:xfrm>
          <a:prstGeom prst="ellipse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251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complaints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4553712"/>
            <a:ext cx="91440" cy="91440"/>
          </a:xfrm>
          <a:prstGeom prst="ellipse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Legal obligations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POLICY BOUNDARY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surfaces. The boundary is set by task type — not user discretion.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6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4114800" cy="50292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Direct Claude — allowed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General reasoning, explanation, ideation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Drafting from user-supplied context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Summarising manually pasted content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 productivity and learning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201168" cy="201168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live system access, no governed tools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411480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5B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417320"/>
            <a:ext cx="4114800" cy="502920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417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SoRR Control — required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2084832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48656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request touching a live business system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37760" y="2560320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560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48656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output intended to leave the conversation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37760" y="3035808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35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48656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use of a governed connector or MCP tool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37760" y="3511296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48656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registered business workflow (T2+)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937760" y="3986784"/>
            <a:ext cx="201168" cy="201168"/>
          </a:xfrm>
          <a:prstGeom prst="rect">
            <a:avLst/>
          </a:prstGeom>
          <a:solidFill>
            <a:srgbClr val="FF5B33"/>
          </a:solidFill>
          <a:ln w="12700">
            <a:solidFill>
              <a:srgbClr val="FF5B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48656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agent invocation, external comms, system write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823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Enforcement: governed connectors and MCP tools only exist behind SoRR Control. Users cannot bypass it — the tools are not there.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HANDOFF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mechanisms ensure governed work always reaches SoRR.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4114800" cy="36576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Mechanism 1 — Architectural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connectors, MCP tools, agents, Skills, and Cowork workspaces are not provisioned in raw Claude. Users physically cannot invoke them — not because of a policy, because the tools don't exist there.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17373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52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coverage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44752"/>
            <a:ext cx="4114800" cy="36576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Mechanism 2 — System 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org-level Enterprise system prompt instructs Claude to detect governed intent in plain language — internal data, agent names, formal outputs — and return a standardised redirect to SoRR Control rather than attempting the task.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852928"/>
            <a:ext cx="1828800" cy="25603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Catches plain-language requests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85953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703320"/>
            <a:ext cx="36576" cy="100584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user sees in Claude — redirect, not refusal: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599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"This task needs a governed workflow. Open SoRR Control to classify and route your request — [link]. Your request will be matched to an approved use case, routed automatically, and logged for audit."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is built for product teams, not just incident response.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are the governed workflows a PM or analyst hits in their daily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8595360" cy="65836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36576" cy="658368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83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UC-01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churn across our last three customer cohorts.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434840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Trigger: Needs approved internal 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2157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Route: Fast lane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9568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SoRR matters: Governed data access with no user-facing friction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65836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78608"/>
            <a:ext cx="36576" cy="65836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334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E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UC-02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Combine feature adoption data with support feedback themes.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26334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Trigger: Cross-source with sensitive signals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9077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E1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Route: Approval / agent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270662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SoRR matters: Higher-complexity product analysis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8595360" cy="65836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328416"/>
            <a:ext cx="36576" cy="658368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832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UC-03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5844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Run the pricing review agent on this quarter's usage data.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Trigger: Approved agent + approved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36576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Route: Fast lane if permitted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3456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SoRR matters: Policy-brokered agent execution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78224"/>
            <a:ext cx="36576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330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UC-04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3342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Create a workspace that tracks onboarding drop-off weekly.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34840" y="4133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Trigger: Persistent, recurring, reporting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4407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Route: Gov. workspace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4206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SoRR matters: Persistent recurring work enters controlled mode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CLOSED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fulfils the request. Claude never gets re-enabled in the original chat.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2743200" cy="47548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6642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Auto-approve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2066544"/>
            <a:ext cx="201168" cy="20116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" y="204825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Request matches use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578608"/>
            <a:ext cx="201168" cy="20116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6656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 + permission pass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" y="3090672"/>
            <a:ext cx="201168" cy="20116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" y="30723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assembles governed prompt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" y="3602736"/>
            <a:ext cx="201168" cy="20116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" y="35844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Backend calls Claude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" y="4114800"/>
            <a:ext cx="201168" cy="20116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" y="40965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in SoRR UI + audit logged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72968" y="1444752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1444752"/>
            <a:ext cx="2743200" cy="47548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 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00984" y="16642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approval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00984" y="2066544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75304" y="204825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T3/T4 or no use case match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00984" y="257860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75304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Approval record created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00984" y="3090672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00984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75304" y="30723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Approver acts in admin console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300984" y="3602736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0984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75304" y="35844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Firestore trigger fires backend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00984" y="41148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75304" y="40965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API called → user notified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71616" y="1444752"/>
            <a:ext cx="2743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71616" y="1444752"/>
            <a:ext cx="274320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9632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 C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99632" y="16642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Gov. workspace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199632" y="2066544"/>
            <a:ext cx="201168" cy="2011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73952" y="204825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SoRR creates Cowork project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9632" y="2578608"/>
            <a:ext cx="201168" cy="2011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99632" y="25786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73952" y="25603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 bundle set as context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99632" y="3090672"/>
            <a:ext cx="201168" cy="2011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73952" y="307238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receives workspace link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99632" y="3602736"/>
            <a:ext cx="201168" cy="2011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3602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73952" y="35844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multi-turn under policy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199632" y="4114800"/>
            <a:ext cx="201168" cy="2011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9632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73952" y="409651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outputs still need approval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78231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Claude API calls happen server-side only. The API key never touches the client. Every turn is audited against the same policy snapshot.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OBJECTION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"Why not just use ServiceNow or Portkey?"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3931920" cy="2331720"/>
          </a:xfrm>
          <a:prstGeom prst="rect">
            <a:avLst/>
          </a:prstGeom>
          <a:solidFill>
            <a:srgbClr val="0D21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Portkey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3566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gateway. Routes between models, tracks costs, filters harmful content, manages MCP servers. Routes on technical criteria — model selection, cost, latency. Has no concept of your data classification scheme, approval hierarchies, or business risk tiers. Cannot hold a request pending human approval based on data sensitivity.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297680" cy="2331720"/>
          </a:xfrm>
          <a:prstGeom prst="rect">
            <a:avLst/>
          </a:prstGeom>
          <a:solidFill>
            <a:srgbClr val="0D21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45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ServiceNow AI Control Tower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084832"/>
            <a:ext cx="3931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Governs ServiceNow's own agents and workflows. Does not intercept arbitrary employee requests to Claude, Cowork, or external MCP-connected agents. Significant procurement, implementation, and licensing commitment. Assumes ServiceNow is already your system of record for AI governance.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4041648"/>
            <a:ext cx="8595360" cy="804672"/>
          </a:xfrm>
          <a:prstGeom prst="rect">
            <a:avLst/>
          </a:prstGeom>
          <a:solidFill>
            <a:srgbClr val="2E0A00"/>
          </a:solidFill>
          <a:ln w="25400">
            <a:solidFill>
              <a:srgbClr val="FF5B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33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B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test question: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Which of those tools would have caught a product manager sending customer billing data to an ungoverned Claude agent this morning and created an immutable audit record?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Neither. That is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THE CPO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accelerates adoption. Every major analyst agrees.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783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 AI deployment in organisations with mature governance (2025 Benchmark)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1508760"/>
            <a:ext cx="2743200" cy="1783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3.4×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10128" y="2423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more likely to scale AI successfully with governance in place (Gartner Q2 2025)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71616" y="1508760"/>
            <a:ext cx="2743200" cy="1783080"/>
          </a:xfrm>
          <a:prstGeom prst="rect">
            <a:avLst/>
          </a:prstGeom>
          <a:solidFill>
            <a:srgbClr val="10294D"/>
          </a:solidFill>
          <a:ln w="12700">
            <a:solidFill>
              <a:srgbClr val="1029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08776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min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08776" y="24231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IBM reduced new AI deployment approval from 2 weeks to 5–6 minutes with governed rails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447288"/>
            <a:ext cx="8595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47288"/>
            <a:ext cx="54864" cy="150876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38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reframe for product leadership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"Security review"</a:t>
            </a:r>
            <a:pPr indent="0" marL="0">
              <a:buNone/>
            </a:pPr>
            <a:r>
              <a:rPr lang="en-US" sz="125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→  </a:t>
            </a:r>
            <a:pPr indent="0" marL="0">
              <a:buNone/>
            </a:pPr>
            <a:r>
              <a:rPr lang="en-US" sz="125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"Automated quality gate"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"Compliance requirement"</a:t>
            </a:r>
            <a:pPr indent="0" marL="0">
              <a:buNone/>
            </a:pPr>
            <a:r>
              <a:rPr lang="en-US" sz="125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→  </a:t>
            </a:r>
            <a:pPr indent="0" marL="0">
              <a:buNone/>
            </a:pPr>
            <a:r>
              <a:rPr lang="en-US" sz="125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"Deployment accelerator"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5171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"Policy enforcement"</a:t>
            </a:r>
            <a:pPr indent="0" marL="0">
              <a:buNone/>
            </a:pPr>
            <a:r>
              <a:rPr lang="en-US" sz="125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→  </a:t>
            </a:r>
            <a:pPr indent="0" marL="0">
              <a:buNone/>
            </a:pPr>
            <a:r>
              <a:rPr lang="en-US" sz="1250" b="1" dirty="0">
                <a:solidFill>
                  <a:srgbClr val="1029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"Golden path to production"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Champion first. Build second.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74980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655064"/>
            <a:ext cx="457200" cy="45720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55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team conversation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110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 the policy boundary matrix and MCP attack vector data. The architectural enforcement model is the opening frame — governed tools don't exist in raw Claude.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1673352"/>
            <a:ext cx="1508760" cy="274320"/>
          </a:xfrm>
          <a:prstGeom prst="rect">
            <a:avLst/>
          </a:prstGeom>
          <a:solidFill>
            <a:srgbClr val="00D6A3">
              <a:alpha val="25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673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2 weeks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8595360" cy="74980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496312"/>
            <a:ext cx="457200" cy="45720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v0 build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75234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Auth, request input, 5 use cases, 3 risk tiers, 3 mock routes, full audit log. Claude API wired for fast lane. Testable end-to-end without real MCP connectors.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0" y="2514600"/>
            <a:ext cx="1508760" cy="274320"/>
          </a:xfrm>
          <a:prstGeom prst="rect">
            <a:avLst/>
          </a:prstGeom>
          <a:solidFill>
            <a:srgbClr val="00D6A3">
              <a:alpha val="25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5146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191256"/>
            <a:ext cx="8595360" cy="74980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337560"/>
            <a:ext cx="457200" cy="45720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CPO demo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935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Show the fast lane resolving in seconds, an approval flow, and a governed workspace launch. Pitch: 'SoRR for the work, Claude for thinking about the work.'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3355848"/>
            <a:ext cx="1508760" cy="274320"/>
          </a:xfrm>
          <a:prstGeom prst="rect">
            <a:avLst/>
          </a:prstGeom>
          <a:solidFill>
            <a:srgbClr val="00D6A3">
              <a:alpha val="25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3355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032504"/>
            <a:ext cx="8595360" cy="749808"/>
          </a:xfrm>
          <a:prstGeom prst="rect">
            <a:avLst/>
          </a:prstGeom>
          <a:solidFill>
            <a:srgbClr val="0D2140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178808"/>
            <a:ext cx="457200" cy="457200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056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v1: real connectors + fulfilment loop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434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MCP tool calls (read-only first), Firestore trigger model live, real approval queue with notifications, admin UI for use cases and approver groups.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23760" y="4197096"/>
            <a:ext cx="1508760" cy="274320"/>
          </a:xfrm>
          <a:prstGeom prst="rect">
            <a:avLst/>
          </a:prstGeom>
          <a:solidFill>
            <a:srgbClr val="00D6A3">
              <a:alpha val="25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41970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Following sprint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548640"/>
            <a:ext cx="3657600" cy="3657600"/>
          </a:xfrm>
          <a:prstGeom prst="ellipse">
            <a:avLst/>
          </a:prstGeom>
          <a:solidFill>
            <a:srgbClr val="00D6A3">
              <a:alpha val="10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914400"/>
            <a:ext cx="2286000" cy="2286000"/>
          </a:xfrm>
          <a:prstGeom prst="ellipse">
            <a:avLst/>
          </a:prstGeom>
          <a:solidFill>
            <a:srgbClr val="00D6A3">
              <a:alpha val="15000"/>
            </a:srgbClr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Bottom line.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governed fast lane is always faster than ungoverned chaos followed by an incident-driven lockdown.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743200"/>
            <a:ext cx="164592" cy="164592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270662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team: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gets visibility and control over every AI action touching live systems.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3273552"/>
            <a:ext cx="164592" cy="164592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32369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teams: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 a governed fast lane — SoRR for the work, Claude for thinking about the work.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3803904"/>
            <a:ext cx="164592" cy="164592"/>
          </a:xfrm>
          <a:prstGeom prst="ellipse">
            <a:avLst/>
          </a:prstGeom>
          <a:solidFill>
            <a:srgbClr val="00D6A3"/>
          </a:solidFill>
          <a:ln w="12700">
            <a:solidFill>
              <a:srgbClr val="00D6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3767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organisation: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avoids the 3–6 month productivity loss that follows every uncontrolled AI deployment that goes wrong.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81629"/>
          </a:solidFill>
          <a:ln w="12700">
            <a:solidFill>
              <a:srgbClr val="0816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6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 control layer before the incident that makes it mandatory.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SoRR Control — Governing AI at Speed</dc:title>
  <dc:subject>PptxGenJS Presentation</dc:subject>
  <dc:creator>PptxGenJS</dc:creator>
  <cp:lastModifiedBy>PptxGenJS</cp:lastModifiedBy>
  <cp:revision>1</cp:revision>
  <dcterms:created xsi:type="dcterms:W3CDTF">2026-03-21T13:35:36Z</dcterms:created>
  <dcterms:modified xsi:type="dcterms:W3CDTF">2026-03-21T13:35:36Z</dcterms:modified>
</cp:coreProperties>
</file>